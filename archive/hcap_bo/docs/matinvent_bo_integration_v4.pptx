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7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Integrating Bayesian Optimization with MatInvent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BO+RL acceleration across 3 generative paradigms</a:t>
            </a:r>
          </a:p>
          <a:p>
            <a:pPr>
              <a:spcAft>
                <a:spcPts val="200"/>
              </a:spcAft>
              <a:defRPr sz="1500"/>
            </a:pPr>
            <a:endParaRPr/>
          </a:p>
          <a:p>
            <a:pPr>
              <a:spcAft>
                <a:spcPts val="200"/>
              </a:spcAft>
              <a:defRPr sz="1500"/>
            </a:pPr>
            <a:r>
              <a:t>Properties:  heat capacity (Cp, target 1.5 J/g/K)  ·  bulk modulus (K_VRH, maximize)</a:t>
            </a:r>
          </a:p>
          <a:p>
            <a:pPr>
              <a:spcAft>
                <a:spcPts val="200"/>
              </a:spcAft>
              <a:defRPr sz="1500"/>
            </a:pPr>
            <a:r>
              <a:t>Paradigms:   MatterGen (score-net)  ·  CrystalFlow (CFM)  ·  ADiT (latent DiT)</a:t>
            </a:r>
          </a:p>
          <a:p>
            <a:pPr>
              <a:spcAft>
                <a:spcPts val="200"/>
              </a:spcAft>
              <a:defRPr sz="1500"/>
            </a:pPr>
            <a:r>
              <a:t>Variants:    BASE (pure RL, full oracle)  vs  v4 ACC (GP-routed BO+RL)</a:t>
            </a:r>
          </a:p>
          <a:p>
            <a:pPr>
              <a:spcAft>
                <a:spcPts val="200"/>
              </a:spcAft>
              <a:defRPr sz="1500"/>
            </a:pPr>
            <a:r>
              <a:t>Replicates:  2 seeds × 3 paradigms × 2 setups × 2 properties = 48 runs total</a:t>
            </a:r>
          </a:p>
          <a:p>
            <a:pPr>
              <a:spcAft>
                <a:spcPts val="200"/>
              </a:spcAft>
              <a:defRPr sz="1500"/>
            </a:pPr>
            <a:endParaRPr/>
          </a:p>
          <a:p>
            <a:pPr>
              <a:spcAft>
                <a:spcPts val="200"/>
              </a:spcAft>
              <a:defRPr sz="1500"/>
            </a:pPr>
            <a:r>
              <a:t>Reference:  MatInvent (Schwaller et al, arXiv 2511.03112)</a:t>
            </a:r>
          </a:p>
          <a:p>
            <a:pPr>
              <a:spcAft>
                <a:spcPts val="200"/>
              </a:spcAft>
              <a:defRPr sz="1500"/>
            </a:pPr>
            <a:r>
              <a:t>Branch:     phase3-v4-bm  in matinvent-hcap-bo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Recap: Original MatInvent framework</a:t>
            </a:r>
          </a:p>
        </p:txBody>
      </p:sp>
      <p:pic>
        <p:nvPicPr>
          <p:cNvPr id="3" name="Picture 2" descr="flow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595360" cy="4713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Generator → GeoOpt → SUN filter → expensive oracle → REINFORCE update.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9EED"/>
                </a:solidFill>
              </a:defRPr>
            </a:pPr>
            <a:r>
              <a:t>Editable source: docs/figures/flow_original.excalidraw  (open via excalidraw.com → menu → Open)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Three generative paradigms — unified by adapter classes</a:t>
            </a:r>
          </a:p>
        </p:txBody>
      </p:sp>
      <p:pic>
        <p:nvPicPr>
          <p:cNvPr id="3" name="Picture 2" descr="paradig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595360" cy="407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Each paradigm has its own diffusion mechanics; all expose the same `add_noise/calc_sample_loss/calc_kl_reg`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Our v4 extension: BO layer between filter and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89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GP picks K=4 promising candidates (EI + DPP diversity); only those go to expensive oracle. Non-oracle samples → NaN reward → no RL gradient (honest reward).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9EED"/>
                </a:solidFill>
              </a:defRPr>
            </a:pPr>
            <a:r>
              <a:t>Editable source: docs/figures/flow_v4.excalidraw  (open via excalidraw.com → menu → Open)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67DDAE-F8D0-B5CA-83D1-5720041FD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35734"/>
            <a:ext cx="7772400" cy="46335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From v1 to v4: what each iteration fixed</a:t>
            </a:r>
          </a:p>
        </p:txBody>
      </p:sp>
      <p:pic>
        <p:nvPicPr>
          <p:cNvPr id="3" name="Picture 2" descr="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595360" cy="42926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v4 is the first version that achieves real oracle savings (anchor cycles dropped, K capped).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Results: Cp + BM, BASE vs v4 ACC</a:t>
            </a:r>
          </a:p>
        </p:txBody>
      </p:sp>
      <p:pic>
        <p:nvPicPr>
          <p:cNvPr id="3" name="Picture 2" descr="result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17220"/>
            <a:ext cx="8595360" cy="60121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64008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ACC ≥ BASE on most paradigm/seed pairs across both properties. Cp v4 cf-acc s99 hits target 1.5.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Oracle cost: ACC ÷ BASE</a:t>
            </a:r>
          </a:p>
        </p:txBody>
      </p:sp>
      <p:pic>
        <p:nvPicPr>
          <p:cNvPr id="3" name="Picture 2" descr="oracle_ca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595360" cy="41766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v4 ACC averages 30–60% of BASE oracle calls on mg + adit. cf is closer (already-tight filter limits BO leverage).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Comparison with original MatInvent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/>
            </a:pPr>
            <a:r>
              <a:t>What we KEEP from Schwaller et al (arXiv 2511.03112):</a:t>
            </a:r>
          </a:p>
          <a:p>
            <a:pPr>
              <a:spcAft>
                <a:spcPts val="500"/>
              </a:spcAft>
              <a:defRPr sz="1500"/>
            </a:pPr>
            <a:r>
              <a:t>• Generator-as-RL-agent + REINFORCE policy gradient</a:t>
            </a:r>
          </a:p>
          <a:p>
            <a:pPr>
              <a:spcAft>
                <a:spcPts val="500"/>
              </a:spcAft>
              <a:defRPr sz="1500"/>
            </a:pPr>
            <a:r>
              <a:t>• KL-regularized loss against the prior diffusion model</a:t>
            </a:r>
          </a:p>
          <a:p>
            <a:pPr>
              <a:spcAft>
                <a:spcPts val="500"/>
              </a:spcAft>
              <a:defRPr sz="1500"/>
            </a:pPr>
            <a:r>
              <a:t>• Experience replay buffer + diversity filter</a:t>
            </a:r>
          </a:p>
          <a:p>
            <a:pPr>
              <a:spcAft>
                <a:spcPts val="500"/>
              </a:spcAft>
              <a:defRPr sz="1500"/>
            </a:pPr>
            <a:r>
              <a:t>• SUN filter (Valid + Stable + Unique + Novel) before scoring</a:t>
            </a:r>
          </a:p>
          <a:p>
            <a:pPr>
              <a:spcAft>
                <a:spcPts val="500"/>
              </a:spcAft>
              <a:defRPr sz="1500"/>
            </a:pPr>
            <a:r>
              <a:t>• eSEN-30M-OAM as the oracle backbone (heat capacity, energy, stress)</a:t>
            </a:r>
          </a:p>
          <a:p>
            <a:pPr>
              <a:spcAft>
                <a:spcPts val="500"/>
              </a:spcAft>
              <a:defRPr sz="1700" b="1"/>
            </a:pPr>
            <a:endParaRPr/>
          </a:p>
          <a:p>
            <a:pPr>
              <a:spcAft>
                <a:spcPts val="500"/>
              </a:spcAft>
              <a:defRPr sz="1700" b="1"/>
            </a:pPr>
            <a:r>
              <a:t>What we ADD:</a:t>
            </a:r>
          </a:p>
          <a:p>
            <a:pPr>
              <a:spcAft>
                <a:spcPts val="500"/>
              </a:spcAft>
              <a:defRPr sz="1500"/>
            </a:pPr>
            <a:r>
              <a:t>• GP surrogate trained on per-cycle ORB-PCA50 features of oracled structures</a:t>
            </a:r>
          </a:p>
          <a:p>
            <a:pPr>
              <a:spcAft>
                <a:spcPts val="500"/>
              </a:spcAft>
              <a:defRPr sz="1500"/>
            </a:pPr>
            <a:r>
              <a:t>• EI-based acquisition with DPP diversity → top-K selection</a:t>
            </a:r>
          </a:p>
          <a:p>
            <a:pPr>
              <a:spcAft>
                <a:spcPts val="500"/>
              </a:spcAft>
              <a:defRPr sz="1500"/>
            </a:pPr>
            <a:r>
              <a:t>• Honest reward: only oracled samples contribute RL gradient</a:t>
            </a:r>
          </a:p>
          <a:p>
            <a:pPr>
              <a:spcAft>
                <a:spcPts val="500"/>
              </a:spcAft>
              <a:defRPr sz="1500"/>
            </a:pPr>
            <a:r>
              <a:t>• Warm-start from external label pools (160 Cp, 500 BM from elastic_tensor_2015)</a:t>
            </a:r>
          </a:p>
          <a:p>
            <a:pPr>
              <a:spcAft>
                <a:spcPts val="500"/>
              </a:spcAft>
              <a:defRPr sz="1500"/>
            </a:pPr>
            <a:r>
              <a:t>• Property-portable: same code path for Cp (J/g/K) and BM (GPa)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Limitations +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/>
            </a:pPr>
            <a:r>
              <a:t>Where v4 falls short:</a:t>
            </a:r>
          </a:p>
          <a:p>
            <a:pPr>
              <a:spcAft>
                <a:spcPts val="500"/>
              </a:spcAft>
              <a:defRPr sz="1500"/>
            </a:pPr>
            <a:r>
              <a:t>• cf paradigm: SUN filter already kills 80% of samples. K=4 cap leaves only ~1-2 oracle savings</a:t>
            </a:r>
          </a:p>
          <a:p>
            <a:pPr>
              <a:spcAft>
                <a:spcPts val="500"/>
              </a:spcAft>
              <a:defRPr sz="1500"/>
            </a:pPr>
            <a:r>
              <a:t>  per cycle — minimal headroom. ACC ≈ BASE here.</a:t>
            </a:r>
          </a:p>
          <a:p>
            <a:pPr>
              <a:spcAft>
                <a:spcPts val="500"/>
              </a:spcAft>
              <a:defRPr sz="1500"/>
            </a:pPr>
            <a:r>
              <a:t>• GP needs warm-start labels — for novel properties without prior data, cold-start is slow.</a:t>
            </a:r>
          </a:p>
          <a:p>
            <a:pPr>
              <a:spcAft>
                <a:spcPts val="500"/>
              </a:spcAft>
              <a:defRPr sz="1500"/>
            </a:pPr>
            <a:r>
              <a:t>• ORB-PCA50 features are property-agnostic; a property-specific featurizer might converge faster.</a:t>
            </a:r>
          </a:p>
          <a:p>
            <a:pPr>
              <a:spcAft>
                <a:spcPts val="500"/>
              </a:spcAft>
              <a:defRPr sz="1700" b="1"/>
            </a:pPr>
            <a:endParaRPr/>
          </a:p>
          <a:p>
            <a:pPr>
              <a:spcAft>
                <a:spcPts val="500"/>
              </a:spcAft>
              <a:defRPr sz="1700" b="1"/>
            </a:pPr>
            <a:r>
              <a:t>Future directions:</a:t>
            </a:r>
          </a:p>
          <a:p>
            <a:pPr>
              <a:spcAft>
                <a:spcPts val="500"/>
              </a:spcAft>
              <a:defRPr sz="1500"/>
            </a:pPr>
            <a:r>
              <a:t>• Multi-task GP: share latent across Cp + BM + other properties (one structure, multiple targets).</a:t>
            </a:r>
          </a:p>
          <a:p>
            <a:pPr>
              <a:spcAft>
                <a:spcPts val="500"/>
              </a:spcAft>
              <a:defRPr sz="1500"/>
            </a:pPr>
            <a:r>
              <a:t>• Adaptive K: increase K when GP CV-RMSE is low, decrease when high.</a:t>
            </a:r>
          </a:p>
          <a:p>
            <a:pPr>
              <a:spcAft>
                <a:spcPts val="500"/>
              </a:spcAft>
              <a:defRPr sz="1500"/>
            </a:pPr>
            <a:r>
              <a:t>• Beam-search BO: maintain top-N candidate trajectories instead of greedy selection.</a:t>
            </a:r>
          </a:p>
          <a:p>
            <a:pPr>
              <a:spcAft>
                <a:spcPts val="500"/>
              </a:spcAft>
              <a:defRPr sz="1500"/>
            </a:pPr>
            <a:r>
              <a:t>• Replace ORB-PCA50 with property-specific embeddings (e.g., MACE for elastic, eSEN-internal for Cp).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Take-aways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/>
            </a:pPr>
            <a:r>
              <a:t>Headline:</a:t>
            </a:r>
          </a:p>
          <a:p>
            <a:pPr>
              <a:spcAft>
                <a:spcPts val="500"/>
              </a:spcAft>
              <a:defRPr sz="1500"/>
            </a:pPr>
            <a:r>
              <a:t>• v4 ACC = 30–60% fewer oracle calls than BASE, on average matching/beating best Cp / K_VRH.</a:t>
            </a:r>
          </a:p>
          <a:p>
            <a:pPr>
              <a:spcAft>
                <a:spcPts val="500"/>
              </a:spcAft>
              <a:defRPr sz="1700" b="1"/>
            </a:pPr>
            <a:endParaRPr/>
          </a:p>
          <a:p>
            <a:pPr>
              <a:spcAft>
                <a:spcPts val="500"/>
              </a:spcAft>
              <a:defRPr sz="1700" b="1"/>
            </a:pPr>
            <a:r>
              <a:t>Top hits (single-job best):</a:t>
            </a:r>
          </a:p>
          <a:p>
            <a:pPr>
              <a:spcAft>
                <a:spcPts val="500"/>
              </a:spcAft>
              <a:defRPr sz="1500"/>
            </a:pPr>
            <a:r>
              <a:t>• Cp: cf-acc seed 99 reached Cp=1.516 J/g/K (target=1.5) with 33 oracle calls.</a:t>
            </a:r>
          </a:p>
          <a:p>
            <a:pPr>
              <a:spcAft>
                <a:spcPts val="500"/>
              </a:spcAft>
              <a:defRPr sz="1500"/>
            </a:pPr>
            <a:r>
              <a:t>• BM: mg-acc seed 99 reached K_VRH=338 GPa with 92 oracle calls (vs BASE 252 GPa @ 320 calls).</a:t>
            </a:r>
          </a:p>
          <a:p>
            <a:pPr>
              <a:spcAft>
                <a:spcPts val="500"/>
              </a:spcAft>
              <a:defRPr sz="1700" b="1"/>
            </a:pPr>
            <a:endParaRPr/>
          </a:p>
          <a:p>
            <a:pPr>
              <a:spcAft>
                <a:spcPts val="500"/>
              </a:spcAft>
              <a:defRPr sz="1700" b="1"/>
            </a:pPr>
            <a:r>
              <a:t>What the paper-ready figure should emphasize:</a:t>
            </a:r>
          </a:p>
          <a:p>
            <a:pPr>
              <a:spcAft>
                <a:spcPts val="500"/>
              </a:spcAft>
              <a:defRPr sz="1500"/>
            </a:pPr>
            <a:r>
              <a:t>• Oracle-call vs best-property pareto curves per paradigm (4 quadrants).</a:t>
            </a:r>
          </a:p>
          <a:p>
            <a:pPr>
              <a:spcAft>
                <a:spcPts val="500"/>
              </a:spcAft>
              <a:defRPr sz="1500"/>
            </a:pPr>
            <a:r>
              <a:t>• Calibration log (GP_RMSE_cv5 / GP_MAE_cv5) per cycle — diagnoses GP quality drift.</a:t>
            </a:r>
          </a:p>
          <a:p>
            <a:pPr>
              <a:spcAft>
                <a:spcPts val="500"/>
              </a:spcAft>
              <a:defRPr sz="1500"/>
            </a:pPr>
            <a:r>
              <a:t>• Honest-reward ablation: v4 with vs without NaN masking on non-oracle samples.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766</Words>
  <Application>Microsoft Macintosh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Alvi, Sk Md Ahnaf Akif</cp:lastModifiedBy>
  <cp:revision>2</cp:revision>
  <dcterms:created xsi:type="dcterms:W3CDTF">2013-01-27T09:14:16Z</dcterms:created>
  <dcterms:modified xsi:type="dcterms:W3CDTF">2026-05-05T08:42:03Z</dcterms:modified>
  <cp:category/>
</cp:coreProperties>
</file>